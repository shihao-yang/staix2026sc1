
<file path=[Content_Types].xml><?xml version="1.0" encoding="utf-8"?>
<Types xmlns="http://schemas.openxmlformats.org/package/2006/content-types"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5" r:id="rId2"/>
    <p:sldId id="272" r:id="rId3"/>
    <p:sldId id="278" r:id="rId4"/>
    <p:sldId id="266" r:id="rId5"/>
    <p:sldId id="267" r:id="rId6"/>
    <p:sldId id="270" r:id="rId7"/>
    <p:sldId id="271" r:id="rId8"/>
    <p:sldId id="269" r:id="rId9"/>
    <p:sldId id="279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1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29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5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195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2377440"/>
            <a:ext cx="5943600" cy="5943600"/>
          </a:xfrm>
          <a:prstGeom prst="ellipse">
            <a:avLst/>
          </a:prstGeom>
          <a:solidFill>
            <a:srgbClr val="FBF1D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204460" cy="204460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77824" y="777240"/>
            <a:ext cx="204460" cy="204460"/>
          </a:xfrm>
          <a:prstGeom prst="rect">
            <a:avLst/>
          </a:prstGeom>
          <a:solidFill>
            <a:srgbClr val="EAAA0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40080" y="1014984"/>
            <a:ext cx="204460" cy="204460"/>
          </a:xfrm>
          <a:prstGeom prst="rect">
            <a:avLst/>
          </a:prstGeom>
          <a:solidFill>
            <a:srgbClr val="EAAA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15568" y="777240"/>
            <a:ext cx="204460" cy="204460"/>
          </a:xfrm>
          <a:prstGeom prst="rect">
            <a:avLst/>
          </a:prstGeom>
          <a:solidFill>
            <a:srgbClr val="EAAA00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77824" y="1014984"/>
            <a:ext cx="204460" cy="204460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15568" y="1014984"/>
            <a:ext cx="204460" cy="204460"/>
          </a:xfrm>
          <a:prstGeom prst="rect">
            <a:avLst/>
          </a:prstGeom>
          <a:solidFill>
            <a:srgbClr val="EAAA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77824" y="1252728"/>
            <a:ext cx="204460" cy="204460"/>
          </a:xfrm>
          <a:prstGeom prst="rect">
            <a:avLst/>
          </a:prstGeom>
          <a:solidFill>
            <a:srgbClr val="EAAA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115568" y="1252728"/>
            <a:ext cx="204460" cy="204460"/>
          </a:xfrm>
          <a:prstGeom prst="rect">
            <a:avLst/>
          </a:prstGeom>
          <a:solidFill>
            <a:srgbClr val="EAAA0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50651" y="2240280"/>
            <a:ext cx="1141244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5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 auto research loop</a:t>
            </a:r>
            <a:endParaRPr lang="en-US" sz="350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10561320" cy="1051560"/>
          </a:xfrm>
          <a:prstGeom prst="roundRect">
            <a:avLst>
              <a:gd name="adj" fmla="val 8696"/>
            </a:avLst>
          </a:prstGeom>
          <a:solidFill>
            <a:srgbClr val="FBF1D5"/>
          </a:solidFill>
          <a:ln w="15875">
            <a:solidFill>
              <a:srgbClr val="EAAA0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51560" y="3611880"/>
            <a:ext cx="100584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</a:t>
            </a:r>
            <a:r>
              <a:rPr lang="en-US" sz="230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eight </a:t>
            </a:r>
            <a:r>
              <a:rPr lang="en-US" sz="2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months, we built a </a:t>
            </a:r>
            <a:r>
              <a:rPr lang="en-US" sz="23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engine</a:t>
            </a:r>
            <a:r>
              <a:rPr lang="en-US" sz="23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 of agentic AI.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731520" y="4892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future work. It is the engine behind my own work.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551615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17958" cy="117958"/>
          </a:xfrm>
          <a:prstGeom prst="rect">
            <a:avLst/>
          </a:prstGeom>
          <a:solidFill>
            <a:srgbClr val="EAAA0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117958" cy="117958"/>
          </a:xfrm>
          <a:prstGeom prst="rect">
            <a:avLst/>
          </a:prstGeom>
          <a:solidFill>
            <a:srgbClr val="EAAA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384048"/>
            <a:ext cx="117958" cy="117958"/>
          </a:xfrm>
          <a:prstGeom prst="rect">
            <a:avLst/>
          </a:prstGeom>
          <a:solidFill>
            <a:srgbClr val="EAAA00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52120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521208"/>
            <a:ext cx="117958" cy="117958"/>
          </a:xfrm>
          <a:prstGeom prst="rect">
            <a:avLst/>
          </a:prstGeom>
          <a:solidFill>
            <a:srgbClr val="EAAA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658368"/>
            <a:ext cx="117958" cy="117958"/>
          </a:xfrm>
          <a:prstGeom prst="rect">
            <a:avLst/>
          </a:prstGeom>
          <a:solidFill>
            <a:srgbClr val="EAAA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658368"/>
            <a:ext cx="117958" cy="117958"/>
          </a:xfrm>
          <a:prstGeom prst="rect">
            <a:avLst/>
          </a:prstGeom>
          <a:solidFill>
            <a:srgbClr val="EAAA0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3840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PUBLIC — TRY 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Clone it and run your own loop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914400" y="1645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auto-research started private. Its v2, rebuilt on LoopPlane's loop logic, is now </a:t>
            </a:r>
            <a:r>
              <a:rPr lang="en-US" sz="17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(Apache-2.0)</a:t>
            </a:r>
            <a:r>
              <a:rPr lang="en-US" sz="17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Everyone is welcome to try it — you drive it in plain English; the agent runs LoopPlane for you.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23272B"/>
                </a:solidFill>
                <a:latin typeface="Calibri" pitchFamily="34" charset="0"/>
                <a:cs typeface="Calibri" pitchFamily="34" charset="-120"/>
              </a:rPr>
              <a:t>We don’t need Anthropic or OpenAI API. We use Claude Code CLI or ChatGPT (Codex) CLI subscription.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14400" y="2697480"/>
            <a:ext cx="10332720" cy="2514600"/>
          </a:xfrm>
          <a:prstGeom prst="roundRect">
            <a:avLst>
              <a:gd name="adj" fmla="val 2909"/>
            </a:avLst>
          </a:prstGeom>
          <a:solidFill>
            <a:srgbClr val="FBF8F0"/>
          </a:solidFill>
          <a:ln w="15875">
            <a:solidFill>
              <a:srgbClr val="EAAA0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88720" y="28346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into your coding agent (Codex / Claude Code):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246120"/>
            <a:ext cx="969264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232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LoopPlane to set up a durable workflow for this project.
</a:t>
            </a:r>
            <a:r>
              <a:rPr lang="en-US" sz="1450" b="1" dirty="0">
                <a:solidFill>
                  <a:srgbClr val="003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Project: </a:t>
            </a:r>
            <a:r>
              <a:rPr lang="en-US" sz="1450" dirty="0">
                <a:solidFill>
                  <a:srgbClr val="232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&lt;your project folder, or a link to the proposed research plan&gt;
</a:t>
            </a:r>
            <a:r>
              <a:rPr lang="en-US" sz="1450" b="1" dirty="0">
                <a:solidFill>
                  <a:srgbClr val="003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Outcome: </a:t>
            </a:r>
            <a:r>
              <a:rPr lang="en-US" sz="1450" dirty="0">
                <a:solidFill>
                  <a:srgbClr val="2327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&lt;the result you want, or a link to requirements&gt;
Optional: review-gated planning first; do not start execution until I approve.
If LoopPlane isn't here, clone github.com/LJC-FVNR/LoopPlane. Run the commands yourself; give me the dashboard URL.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14400" y="5486400"/>
            <a:ext cx="1193292" cy="566928"/>
          </a:xfrm>
          <a:prstGeom prst="roundRect">
            <a:avLst>
              <a:gd name="adj" fmla="val 16129"/>
            </a:avLst>
          </a:prstGeom>
          <a:solidFill>
            <a:srgbClr val="FBF1D5"/>
          </a:solidFill>
          <a:ln w="12700">
            <a:solidFill>
              <a:srgbClr val="EAA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11932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144268" y="5769864"/>
            <a:ext cx="310896" cy="0"/>
          </a:xfrm>
          <a:prstGeom prst="line">
            <a:avLst/>
          </a:prstGeom>
          <a:noFill/>
          <a:ln w="25400">
            <a:solidFill>
              <a:srgbClr val="EAAA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491740" y="5486400"/>
            <a:ext cx="877824" cy="566928"/>
          </a:xfrm>
          <a:prstGeom prst="roundRect">
            <a:avLst>
              <a:gd name="adj" fmla="val 16129"/>
            </a:avLst>
          </a:prstGeom>
          <a:solidFill>
            <a:srgbClr val="FBF1D5"/>
          </a:solidFill>
          <a:ln w="12700">
            <a:solidFill>
              <a:srgbClr val="EAA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491740" y="5486400"/>
            <a:ext cx="87782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406140" y="5769864"/>
            <a:ext cx="310896" cy="0"/>
          </a:xfrm>
          <a:prstGeom prst="line">
            <a:avLst/>
          </a:prstGeom>
          <a:noFill/>
          <a:ln w="25400">
            <a:solidFill>
              <a:srgbClr val="EAAA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53612" y="5486400"/>
            <a:ext cx="2455164" cy="566928"/>
          </a:xfrm>
          <a:prstGeom prst="roundRect">
            <a:avLst>
              <a:gd name="adj" fmla="val 16129"/>
            </a:avLst>
          </a:prstGeom>
          <a:solidFill>
            <a:srgbClr val="FBF1D5"/>
          </a:solidFill>
          <a:ln w="12700">
            <a:solidFill>
              <a:srgbClr val="EAA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53612" y="5486400"/>
            <a:ext cx="245516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on dashboard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245352" y="5769864"/>
            <a:ext cx="310896" cy="0"/>
          </a:xfrm>
          <a:prstGeom prst="line">
            <a:avLst/>
          </a:prstGeom>
          <a:noFill/>
          <a:ln w="25400">
            <a:solidFill>
              <a:srgbClr val="EAAA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92824" y="5486400"/>
            <a:ext cx="1193292" cy="566928"/>
          </a:xfrm>
          <a:prstGeom prst="roundRect">
            <a:avLst>
              <a:gd name="adj" fmla="val 16129"/>
            </a:avLst>
          </a:prstGeom>
          <a:solidFill>
            <a:srgbClr val="FBF1D5"/>
          </a:solidFill>
          <a:ln w="12700">
            <a:solidFill>
              <a:srgbClr val="EAA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92824" y="5486400"/>
            <a:ext cx="119329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7822692" y="5769864"/>
            <a:ext cx="310896" cy="0"/>
          </a:xfrm>
          <a:prstGeom prst="line">
            <a:avLst/>
          </a:prstGeom>
          <a:noFill/>
          <a:ln w="25400">
            <a:solidFill>
              <a:srgbClr val="EAAA0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70164" y="5486400"/>
            <a:ext cx="2244852" cy="566928"/>
          </a:xfrm>
          <a:prstGeom prst="roundRect">
            <a:avLst>
              <a:gd name="adj" fmla="val 16129"/>
            </a:avLst>
          </a:prstGeom>
          <a:solidFill>
            <a:srgbClr val="FBF1D5"/>
          </a:solidFill>
          <a:ln w="12700">
            <a:solidFill>
              <a:srgbClr val="EAA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170164" y="5486400"/>
            <a:ext cx="22448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in background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02920" y="6355080"/>
            <a:ext cx="10469880" cy="402336"/>
          </a:xfrm>
          <a:prstGeom prst="roundRect">
            <a:avLst>
              <a:gd name="adj" fmla="val 9091"/>
            </a:avLst>
          </a:prstGeom>
          <a:solidFill>
            <a:srgbClr val="FBF1D5"/>
          </a:solidFill>
          <a:ln w="9525">
            <a:solidFill>
              <a:srgbClr val="EAA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6355080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LoopPlane v1.6.0 (Apache-2.0) · github.com/LJC-FVNR/LoopPlane  —  durable, resumable, portable agent workflows.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1551615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17958" cy="117958"/>
          </a:xfrm>
          <a:prstGeom prst="rect">
            <a:avLst/>
          </a:prstGeom>
          <a:solidFill>
            <a:srgbClr val="EAAA0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117958" cy="117958"/>
          </a:xfrm>
          <a:prstGeom prst="rect">
            <a:avLst/>
          </a:prstGeom>
          <a:solidFill>
            <a:srgbClr val="EAAA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384048"/>
            <a:ext cx="117958" cy="117958"/>
          </a:xfrm>
          <a:prstGeom prst="rect">
            <a:avLst/>
          </a:prstGeom>
          <a:solidFill>
            <a:srgbClr val="EAAA00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52120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521208"/>
            <a:ext cx="117958" cy="117958"/>
          </a:xfrm>
          <a:prstGeom prst="rect">
            <a:avLst/>
          </a:prstGeom>
          <a:solidFill>
            <a:srgbClr val="EAAA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658368"/>
            <a:ext cx="117958" cy="117958"/>
          </a:xfrm>
          <a:prstGeom prst="rect">
            <a:avLst/>
          </a:prstGeom>
          <a:solidFill>
            <a:srgbClr val="EAAA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658368"/>
            <a:ext cx="117958" cy="117958"/>
          </a:xfrm>
          <a:prstGeom prst="rect">
            <a:avLst/>
          </a:prstGeom>
          <a:solidFill>
            <a:srgbClr val="EAAA0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3840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23831019-EB4A-AB49-D381-F65DFCDE6D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98315" y="-13610"/>
            <a:ext cx="9093685" cy="6885219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09474F6B-6405-C951-9EEC-1320B86C7554}"/>
              </a:ext>
            </a:extLst>
          </p:cNvPr>
          <p:cNvSpPr txBox="1"/>
          <p:nvPr/>
        </p:nvSpPr>
        <p:spPr>
          <a:xfrm>
            <a:off x="221064" y="898168"/>
            <a:ext cx="26568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</a:rPr>
              <a:t>github.com</a:t>
            </a:r>
            <a:r>
              <a:rPr lang="en-US" sz="1400" b="1" dirty="0">
                <a:solidFill>
                  <a:schemeClr val="accent1">
                    <a:lumMod val="75000"/>
                  </a:schemeClr>
                </a:solidFill>
              </a:rPr>
              <a:t>/LJC-FVNR/</a:t>
            </a:r>
            <a:r>
              <a:rPr lang="en-US" sz="1400" b="1" dirty="0" err="1">
                <a:solidFill>
                  <a:schemeClr val="accent1">
                    <a:lumMod val="75000"/>
                  </a:schemeClr>
                </a:solidFill>
              </a:rPr>
              <a:t>LoopPlane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17958" cy="117958"/>
          </a:xfrm>
          <a:prstGeom prst="rect">
            <a:avLst/>
          </a:prstGeom>
          <a:solidFill>
            <a:srgbClr val="EAAA0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117958" cy="117958"/>
          </a:xfrm>
          <a:prstGeom prst="rect">
            <a:avLst/>
          </a:prstGeom>
          <a:solidFill>
            <a:srgbClr val="EAAA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384048"/>
            <a:ext cx="117958" cy="117958"/>
          </a:xfrm>
          <a:prstGeom prst="rect">
            <a:avLst/>
          </a:prstGeom>
          <a:solidFill>
            <a:srgbClr val="EAAA00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52120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521208"/>
            <a:ext cx="117958" cy="117958"/>
          </a:xfrm>
          <a:prstGeom prst="rect">
            <a:avLst/>
          </a:prstGeom>
          <a:solidFill>
            <a:srgbClr val="EAAA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658368"/>
            <a:ext cx="117958" cy="117958"/>
          </a:xfrm>
          <a:prstGeom prst="rect">
            <a:avLst/>
          </a:prstGeom>
          <a:solidFill>
            <a:srgbClr val="EAAA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658368"/>
            <a:ext cx="117958" cy="117958"/>
          </a:xfrm>
          <a:prstGeom prst="rect">
            <a:avLst/>
          </a:prstGeom>
          <a:solidFill>
            <a:srgbClr val="EAAA0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3840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BE SCARED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“Research automation” needs a blueprint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664208"/>
            <a:ext cx="10332720" cy="1097280"/>
          </a:xfrm>
          <a:prstGeom prst="roundRect">
            <a:avLst>
              <a:gd name="adj" fmla="val 8333"/>
            </a:avLst>
          </a:prstGeom>
          <a:solidFill>
            <a:srgbClr val="F5F2EC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1755648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100" dirty="0">
                <a:solidFill>
                  <a:srgbClr val="23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Automation's prerequisite is a good blueprint. </a:t>
            </a:r>
            <a:r>
              <a:rPr lang="en-US" sz="21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already master it: the grant proposal.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14400" y="2926080"/>
            <a:ext cx="10332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proposal was never just for money. It is the full research narrative: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416552" y="3474720"/>
            <a:ext cx="3319272" cy="1115568"/>
          </a:xfrm>
          <a:prstGeom prst="roundRect">
            <a:avLst>
              <a:gd name="adj" fmla="val 5738"/>
            </a:avLst>
          </a:prstGeom>
          <a:solidFill>
            <a:srgbClr val="F9F1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17720" y="3621024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new ideas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617720" y="4059936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to try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918704" y="3474720"/>
            <a:ext cx="3319272" cy="1115568"/>
          </a:xfrm>
          <a:prstGeom prst="roundRect">
            <a:avLst>
              <a:gd name="adj" fmla="val 5738"/>
            </a:avLst>
          </a:prstGeom>
          <a:solidFill>
            <a:srgbClr val="F9F1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19872" y="3621024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realize them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19872" y="4059936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 of attack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95198" y="4700016"/>
            <a:ext cx="3319272" cy="1115568"/>
          </a:xfrm>
          <a:prstGeom prst="roundRect">
            <a:avLst>
              <a:gd name="adj" fmla="val 5738"/>
            </a:avLst>
          </a:prstGeom>
          <a:solidFill>
            <a:srgbClr val="F9F1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96366" y="484632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hard parts are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096366" y="5285232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difficulties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14400" y="3474720"/>
            <a:ext cx="3319272" cy="1115568"/>
          </a:xfrm>
          <a:prstGeom prst="roundRect">
            <a:avLst>
              <a:gd name="adj" fmla="val 5738"/>
            </a:avLst>
          </a:prstGeom>
          <a:solidFill>
            <a:srgbClr val="F9F1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15568" y="3621024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statement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15568" y="4059936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context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416552" y="4718304"/>
            <a:ext cx="3319272" cy="1115568"/>
          </a:xfrm>
          <a:prstGeom prst="roundRect">
            <a:avLst>
              <a:gd name="adj" fmla="val 5738"/>
            </a:avLst>
          </a:prstGeom>
          <a:solidFill>
            <a:srgbClr val="F9F1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17720" y="4864608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attack them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4617720" y="530352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to push through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918704" y="4718304"/>
            <a:ext cx="3319272" cy="1115568"/>
          </a:xfrm>
          <a:prstGeom prst="roundRect">
            <a:avLst>
              <a:gd name="adj" fmla="val 5738"/>
            </a:avLst>
          </a:prstGeom>
          <a:solidFill>
            <a:srgbClr val="F9F1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119872" y="4864608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detours when blocked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119872" y="530352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fallbacks if a wall won't move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14400" y="5980176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exactly what an executable blueprint needs.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551615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17958" cy="117958"/>
          </a:xfrm>
          <a:prstGeom prst="rect">
            <a:avLst/>
          </a:prstGeom>
          <a:solidFill>
            <a:srgbClr val="EAAA0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117958" cy="117958"/>
          </a:xfrm>
          <a:prstGeom prst="rect">
            <a:avLst/>
          </a:prstGeom>
          <a:solidFill>
            <a:srgbClr val="EAAA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384048"/>
            <a:ext cx="117958" cy="117958"/>
          </a:xfrm>
          <a:prstGeom prst="rect">
            <a:avLst/>
          </a:prstGeom>
          <a:solidFill>
            <a:srgbClr val="EAAA00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52120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521208"/>
            <a:ext cx="117958" cy="117958"/>
          </a:xfrm>
          <a:prstGeom prst="rect">
            <a:avLst/>
          </a:prstGeom>
          <a:solidFill>
            <a:srgbClr val="EAAA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658368"/>
            <a:ext cx="117958" cy="117958"/>
          </a:xfrm>
          <a:prstGeom prst="rect">
            <a:avLst/>
          </a:prstGeom>
          <a:solidFill>
            <a:srgbClr val="EAAA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658368"/>
            <a:ext cx="117958" cy="117958"/>
          </a:xfrm>
          <a:prstGeom prst="rect">
            <a:avLst/>
          </a:prstGeom>
          <a:solidFill>
            <a:srgbClr val="EAAA0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3840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FLIP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proposal becomes the research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1783080"/>
            <a:ext cx="5029200" cy="2331720"/>
          </a:xfrm>
          <a:prstGeom prst="roundRect">
            <a:avLst>
              <a:gd name="adj" fmla="val 3137"/>
            </a:avLst>
          </a:prstGeom>
          <a:solidFill>
            <a:srgbClr val="F5F2EC"/>
          </a:solidFill>
          <a:ln w="12700">
            <a:solidFill>
              <a:srgbClr val="E2D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188720" y="1947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237744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chore you write to extract funding. Painful, subjective, frustrating — success feels like a coin flip at the panel.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245352" y="1783080"/>
            <a:ext cx="5029200" cy="2331720"/>
          </a:xfrm>
          <a:prstGeom prst="roundRect">
            <a:avLst>
              <a:gd name="adj" fmla="val 3137"/>
            </a:avLst>
          </a:prstGeom>
          <a:solidFill>
            <a:srgbClr val="FBF1D5"/>
          </a:solidFill>
          <a:ln w="15875">
            <a:solidFill>
              <a:srgbClr val="EAAA0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19672" y="19476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19672" y="2377440"/>
            <a:ext cx="44805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research engine, the proposal </a:t>
            </a:r>
            <a:r>
              <a:rPr lang="en-US" sz="180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main body of the work.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it stops being painful — it </a:t>
            </a:r>
            <a:endParaRPr lang="en-US" sz="1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800" b="1" i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</a:t>
            </a:r>
            <a:r>
              <a:rPr lang="en-US" sz="18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research.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14400" y="4343400"/>
            <a:ext cx="10360152" cy="1828800"/>
          </a:xfrm>
          <a:prstGeom prst="roundRect">
            <a:avLst>
              <a:gd name="adj" fmla="val 5000"/>
            </a:avLst>
          </a:prstGeom>
          <a:solidFill>
            <a:srgbClr val="FBF1D5"/>
          </a:solidFill>
          <a:ln w="15875">
            <a:solidFill>
              <a:srgbClr val="EAA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234440" y="4498848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objective success test — better than any panel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34440" y="4956048"/>
            <a:ext cx="96926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proposal is one you can hand to an agent that </a:t>
            </a:r>
            <a:r>
              <a:rPr lang="en-US" sz="180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 it end-to-end</a:t>
            </a:r>
            <a:r>
              <a:rPr lang="en-US" sz="18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when it gets stuck, it looks things up in the proposal. Proposal quality becomes </a:t>
            </a:r>
            <a:r>
              <a:rPr lang="en-US" sz="180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r>
              <a:rPr lang="en-US" sz="18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a frustrating verdict.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551615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17958" cy="117958"/>
          </a:xfrm>
          <a:prstGeom prst="rect">
            <a:avLst/>
          </a:prstGeom>
          <a:solidFill>
            <a:srgbClr val="EAAA0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117958" cy="117958"/>
          </a:xfrm>
          <a:prstGeom prst="rect">
            <a:avLst/>
          </a:prstGeom>
          <a:solidFill>
            <a:srgbClr val="EAAA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384048"/>
            <a:ext cx="117958" cy="117958"/>
          </a:xfrm>
          <a:prstGeom prst="rect">
            <a:avLst/>
          </a:prstGeom>
          <a:solidFill>
            <a:srgbClr val="EAAA00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52120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521208"/>
            <a:ext cx="117958" cy="117958"/>
          </a:xfrm>
          <a:prstGeom prst="rect">
            <a:avLst/>
          </a:prstGeom>
          <a:solidFill>
            <a:srgbClr val="EAAA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658368"/>
            <a:ext cx="117958" cy="117958"/>
          </a:xfrm>
          <a:prstGeom prst="rect">
            <a:avLst/>
          </a:prstGeom>
          <a:solidFill>
            <a:srgbClr val="EAAA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658368"/>
            <a:ext cx="117958" cy="117958"/>
          </a:xfrm>
          <a:prstGeom prst="rect">
            <a:avLst/>
          </a:prstGeom>
          <a:solidFill>
            <a:srgbClr val="EAAA0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3840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ACTUALLY DO IT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research loop you can (sort of) trust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77240" y="17830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5F2EC"/>
          </a:solidFill>
          <a:ln w="12700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178308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plan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2670048" y="2217420"/>
            <a:ext cx="347472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035808" y="17830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ECF1F5"/>
          </a:solidFill>
          <a:ln w="12700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35808" y="178308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workspace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928616" y="2217420"/>
            <a:ext cx="347472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294376" y="17830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5F2EC"/>
          </a:solidFill>
          <a:ln w="12700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94376" y="178308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iteration loop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187184" y="2217420"/>
            <a:ext cx="347472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52944" y="17830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FBF1D5"/>
          </a:solidFill>
          <a:ln w="19050">
            <a:solidFill>
              <a:srgbClr val="EAA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552944" y="178308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9445752" y="2217420"/>
            <a:ext cx="347472" cy="0"/>
          </a:xfrm>
          <a:prstGeom prst="line">
            <a:avLst/>
          </a:prstGeom>
          <a:noFill/>
          <a:ln w="22225">
            <a:solidFill>
              <a:srgbClr val="5B67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811512" y="1783080"/>
            <a:ext cx="1874520" cy="868680"/>
          </a:xfrm>
          <a:prstGeom prst="roundRect">
            <a:avLst>
              <a:gd name="adj" fmla="val 8421"/>
            </a:avLst>
          </a:prstGeom>
          <a:solidFill>
            <a:srgbClr val="ECF1F5"/>
          </a:solidFill>
          <a:ln w="12700">
            <a:solidFill>
              <a:srgbClr val="D8CFC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811512" y="1783080"/>
            <a:ext cx="1874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report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777240" y="2743200"/>
            <a:ext cx="10424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finds a blocker → another round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14400" y="3200400"/>
            <a:ext cx="10332720" cy="749808"/>
          </a:xfrm>
          <a:prstGeom prst="roundRect">
            <a:avLst>
              <a:gd name="adj" fmla="val 8537"/>
            </a:avLst>
          </a:prstGeom>
          <a:solidFill>
            <a:srgbClr val="F5F2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188720" y="3200400"/>
            <a:ext cx="9784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   </a:t>
            </a: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the question. You may sharpen it; you may never swap it for an easier proxy.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14400" y="4041648"/>
            <a:ext cx="10332720" cy="749808"/>
          </a:xfrm>
          <a:prstGeom prst="roundRect">
            <a:avLst>
              <a:gd name="adj" fmla="val 8537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88720" y="4041648"/>
            <a:ext cx="9784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   </a:t>
            </a: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round writes a structured doc before and after; a check refuses to continue otherwise.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14400" y="4882896"/>
            <a:ext cx="10332720" cy="749808"/>
          </a:xfrm>
          <a:prstGeom prst="roundRect">
            <a:avLst>
              <a:gd name="adj" fmla="val 8537"/>
            </a:avLst>
          </a:prstGeom>
          <a:solidFill>
            <a:srgbClr val="F5F2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188720" y="4882896"/>
            <a:ext cx="9784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6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    </a:t>
            </a: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scripted audit: enough real data, multiple model families, an unbroken trail. Fails → no strong claim.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14400" y="5724144"/>
            <a:ext cx="10332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not training a more honest agent; you're building a workflow where a dishonest step doesn't survive a check.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1551615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17958" cy="117958"/>
          </a:xfrm>
          <a:prstGeom prst="rect">
            <a:avLst/>
          </a:prstGeom>
          <a:solidFill>
            <a:srgbClr val="EAAA0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117958" cy="117958"/>
          </a:xfrm>
          <a:prstGeom prst="rect">
            <a:avLst/>
          </a:prstGeom>
          <a:solidFill>
            <a:srgbClr val="EAAA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384048"/>
            <a:ext cx="117958" cy="117958"/>
          </a:xfrm>
          <a:prstGeom prst="rect">
            <a:avLst/>
          </a:prstGeom>
          <a:solidFill>
            <a:srgbClr val="EAAA00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52120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521208"/>
            <a:ext cx="117958" cy="117958"/>
          </a:xfrm>
          <a:prstGeom prst="rect">
            <a:avLst/>
          </a:prstGeom>
          <a:solidFill>
            <a:srgbClr val="EAAA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658368"/>
            <a:ext cx="117958" cy="117958"/>
          </a:xfrm>
          <a:prstGeom prst="rect">
            <a:avLst/>
          </a:prstGeom>
          <a:solidFill>
            <a:srgbClr val="EAAA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658368"/>
            <a:ext cx="117958" cy="117958"/>
          </a:xfrm>
          <a:prstGeom prst="rect">
            <a:avLst/>
          </a:prstGeom>
          <a:solidFill>
            <a:srgbClr val="EAAA0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3840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PRODUCTIZE THE SCAFFOLDING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LoopPlane: a study is a folder, not a chat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914400" y="1783080"/>
            <a:ext cx="3319272" cy="914400"/>
          </a:xfrm>
          <a:prstGeom prst="roundRect">
            <a:avLst>
              <a:gd name="adj" fmla="val 7000"/>
            </a:avLst>
          </a:prstGeom>
          <a:solidFill>
            <a:srgbClr val="F5F2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1911096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PROJECT_BRIEF.md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28600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goal, in plain English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16552" y="1783080"/>
            <a:ext cx="3319272" cy="914400"/>
          </a:xfrm>
          <a:prstGeom prst="roundRect">
            <a:avLst>
              <a:gd name="adj" fmla="val 7000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99432" y="1911096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PLAN.md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9432" y="228600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tasks, what counts as done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918704" y="1783080"/>
            <a:ext cx="3319272" cy="914400"/>
          </a:xfrm>
          <a:prstGeom prst="roundRect">
            <a:avLst>
              <a:gd name="adj" fmla="val 7000"/>
            </a:avLst>
          </a:prstGeom>
          <a:solidFill>
            <a:srgbClr val="F5F2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101584" y="1911096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evidence/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01584" y="2286000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 each task produced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2843784"/>
            <a:ext cx="3319272" cy="914400"/>
          </a:xfrm>
          <a:prstGeom prst="roundRect">
            <a:avLst>
              <a:gd name="adj" fmla="val 7000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097280" y="2971800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validation/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97280" y="3346704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per-task + phase-level objective check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416552" y="2843784"/>
            <a:ext cx="3319272" cy="914400"/>
          </a:xfrm>
          <a:prstGeom prst="roundRect">
            <a:avLst>
              <a:gd name="adj" fmla="val 7000"/>
            </a:avLst>
          </a:prstGeom>
          <a:solidFill>
            <a:srgbClr val="F5F2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99432" y="2971800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.loopplane/ events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99432" y="3346704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log of everything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918704" y="2843784"/>
            <a:ext cx="3319272" cy="914400"/>
          </a:xfrm>
          <a:prstGeom prst="roundRect">
            <a:avLst>
              <a:gd name="adj" fmla="val 7000"/>
            </a:avLst>
          </a:prstGeom>
          <a:solidFill>
            <a:srgbClr val="ECF1F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101584" y="2971800"/>
            <a:ext cx="29535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01584" y="3346704"/>
            <a:ext cx="29535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status view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4114800"/>
            <a:ext cx="10332720" cy="1783080"/>
          </a:xfrm>
          <a:prstGeom prst="roundRect">
            <a:avLst>
              <a:gd name="adj" fmla="val 5128"/>
            </a:avLst>
          </a:prstGeom>
          <a:solidFill>
            <a:srgbClr val="FBF1D5"/>
          </a:solidFill>
          <a:ln w="15875">
            <a:solidFill>
              <a:srgbClr val="EAAA0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234440" y="4261104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checks, not one — this is the key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234440" y="470916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validator: </a:t>
            </a: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“did this task produce the file it should?”      </a:t>
            </a:r>
            <a:r>
              <a:rPr lang="en-US" sz="160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gate: </a:t>
            </a: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“given all evidence so far, is the goal actually met?”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34440" y="53949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task can pass and the objective gate still says “not yet.” That is quality control.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02920" y="6355080"/>
            <a:ext cx="10469880" cy="402336"/>
          </a:xfrm>
          <a:prstGeom prst="roundRect">
            <a:avLst>
              <a:gd name="adj" fmla="val 9091"/>
            </a:avLst>
          </a:prstGeom>
          <a:solidFill>
            <a:srgbClr val="FBF1D5"/>
          </a:solidFill>
          <a:ln w="9525">
            <a:solidFill>
              <a:srgbClr val="EAA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" y="6355080"/>
            <a:ext cx="10149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0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LoopPlane v1.6.0 (Apache-2.0, Python-stdlib core) · github.com/LJC-FVNR/LoopPlane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551615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17958" cy="117958"/>
          </a:xfrm>
          <a:prstGeom prst="rect">
            <a:avLst/>
          </a:prstGeom>
          <a:solidFill>
            <a:srgbClr val="EAAA0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117958" cy="117958"/>
          </a:xfrm>
          <a:prstGeom prst="rect">
            <a:avLst/>
          </a:prstGeom>
          <a:solidFill>
            <a:srgbClr val="EAAA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384048"/>
            <a:ext cx="117958" cy="117958"/>
          </a:xfrm>
          <a:prstGeom prst="rect">
            <a:avLst/>
          </a:prstGeom>
          <a:solidFill>
            <a:srgbClr val="EAAA00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52120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521208"/>
            <a:ext cx="117958" cy="117958"/>
          </a:xfrm>
          <a:prstGeom prst="rect">
            <a:avLst/>
          </a:prstGeom>
          <a:solidFill>
            <a:srgbClr val="EAAA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658368"/>
            <a:ext cx="117958" cy="117958"/>
          </a:xfrm>
          <a:prstGeom prst="rect">
            <a:avLst/>
          </a:prstGeom>
          <a:solidFill>
            <a:srgbClr val="EAAA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658368"/>
            <a:ext cx="117958" cy="117958"/>
          </a:xfrm>
          <a:prstGeom prst="rect">
            <a:avLst/>
          </a:prstGeom>
          <a:solidFill>
            <a:srgbClr val="EAAA0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3840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SYSTEMS ARGUMENT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steam engine needs a railroad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14400" y="2011680"/>
            <a:ext cx="2743200" cy="1371600"/>
          </a:xfrm>
          <a:prstGeom prst="roundRect">
            <a:avLst>
              <a:gd name="adj" fmla="val 6667"/>
            </a:avLst>
          </a:prstGeom>
          <a:solidFill>
            <a:srgbClr val="EAAA00"/>
          </a:solidFill>
          <a:ln/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2157984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
</a:t>
            </a:r>
            <a:r>
              <a:rPr lang="en-US" sz="1400" i="1" dirty="0">
                <a:solidFill>
                  <a:srgbClr val="5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prime mover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703320" y="2697480"/>
            <a:ext cx="777240" cy="0"/>
          </a:xfrm>
          <a:prstGeom prst="line">
            <a:avLst/>
          </a:prstGeom>
          <a:noFill/>
          <a:ln w="25400">
            <a:solidFill>
              <a:srgbClr val="5B677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6675120" cy="1508760"/>
          </a:xfrm>
          <a:prstGeom prst="roundRect">
            <a:avLst>
              <a:gd name="adj" fmla="val 4848"/>
            </a:avLst>
          </a:prstGeom>
          <a:solidFill>
            <a:srgbClr val="F5F2EC"/>
          </a:solidFill>
          <a:ln w="12700">
            <a:solidFill>
              <a:srgbClr val="E2D6C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0916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212080" y="1627632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B23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Bolt it onto a car  </a:t>
            </a:r>
            <a:r>
              <a:rPr lang="en-US" sz="16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one giant prompt to do everything.  Wasted.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0" y="3246120"/>
            <a:ext cx="6675120" cy="1508760"/>
          </a:xfrm>
          <a:prstGeom prst="roundRect">
            <a:avLst>
              <a:gd name="adj" fmla="val 4848"/>
            </a:avLst>
          </a:prstGeom>
          <a:solidFill>
            <a:srgbClr val="FBF1D5"/>
          </a:solidFill>
          <a:ln w="15875">
            <a:solidFill>
              <a:srgbClr val="EAAA0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09160" y="3383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212080" y="3364992"/>
            <a:ext cx="5852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railroad  </a:t>
            </a:r>
            <a:r>
              <a:rPr lang="en-US" sz="1600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rails, signaling, stations, schedules: an orchestrated, reliable system.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14400" y="5029200"/>
            <a:ext cx="10360152" cy="1188720"/>
          </a:xfrm>
          <a:prstGeom prst="roundRect">
            <a:avLst>
              <a:gd name="adj" fmla="val 7692"/>
            </a:avLst>
          </a:prstGeom>
          <a:solidFill>
            <a:srgbClr val="FBF1D5"/>
          </a:solidFill>
          <a:ln w="15875">
            <a:solidFill>
              <a:srgbClr val="EAAA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234440" y="5138928"/>
            <a:ext cx="96926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003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Discipline comes from scaffolding around the agent, not a smarter agent. </a:t>
            </a:r>
            <a:r>
              <a:rPr lang="en-US" sz="165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revolution never came from the engine — it came from the system around it, and IE was born industrializing exactly those systems.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1551615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40080" y="384048"/>
            <a:ext cx="117958" cy="117958"/>
          </a:xfrm>
          <a:prstGeom prst="rect">
            <a:avLst/>
          </a:prstGeom>
          <a:solidFill>
            <a:srgbClr val="EAAA00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02920" y="521208"/>
            <a:ext cx="117958" cy="117958"/>
          </a:xfrm>
          <a:prstGeom prst="rect">
            <a:avLst/>
          </a:prstGeom>
          <a:solidFill>
            <a:srgbClr val="EAAA00">
              <a:alpha val="7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384048"/>
            <a:ext cx="117958" cy="117958"/>
          </a:xfrm>
          <a:prstGeom prst="rect">
            <a:avLst/>
          </a:prstGeom>
          <a:solidFill>
            <a:srgbClr val="EAAA00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521208"/>
            <a:ext cx="117958" cy="117958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521208"/>
            <a:ext cx="117958" cy="117958"/>
          </a:xfrm>
          <a:prstGeom prst="rect">
            <a:avLst/>
          </a:prstGeom>
          <a:solidFill>
            <a:srgbClr val="EAAA00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40080" y="658368"/>
            <a:ext cx="117958" cy="117958"/>
          </a:xfrm>
          <a:prstGeom prst="rect">
            <a:avLst/>
          </a:prstGeom>
          <a:solidFill>
            <a:srgbClr val="EAAA00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77240" y="658368"/>
            <a:ext cx="117958" cy="117958"/>
          </a:xfrm>
          <a:prstGeom prst="rect">
            <a:avLst/>
          </a:prstGeom>
          <a:solidFill>
            <a:srgbClr val="EAAA00">
              <a:alpha val="8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115568" y="38404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STATISTICS OWN THIS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97280" y="676656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intuition builds better agents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914400" y="1536192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rigor we bring to data — now pointed at the agent itself.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4400" y="1938528"/>
            <a:ext cx="5029200" cy="1874520"/>
          </a:xfrm>
          <a:prstGeom prst="roundRect">
            <a:avLst>
              <a:gd name="adj" fmla="val 3902"/>
            </a:avLst>
          </a:prstGeom>
          <a:solidFill>
            <a:srgbClr val="FBF1D5"/>
          </a:solidFill>
          <a:ln w="15875">
            <a:solidFill>
              <a:srgbClr val="EAAA0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188720" y="2249424"/>
            <a:ext cx="146304" cy="146304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44752" y="213969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intuition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265176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12000"/>
              </a:lnSpc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don’t need to review every line of code from AI agent. We use the strong data intuition to make sense of the quantitative output results.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45352" y="1938528"/>
            <a:ext cx="5029200" cy="1874520"/>
          </a:xfrm>
          <a:prstGeom prst="roundRect">
            <a:avLst>
              <a:gd name="adj" fmla="val 3902"/>
            </a:avLst>
          </a:prstGeom>
          <a:solidFill>
            <a:srgbClr val="FBF1D5"/>
          </a:solidFill>
          <a:ln w="15875">
            <a:solidFill>
              <a:srgbClr val="EAAA0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519672" y="2249424"/>
            <a:ext cx="146304" cy="146304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775704" y="2139696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&amp; reliability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19672" y="2651760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Perturb the prompt. If the answer survives slightly different asks, trust it more; if it swings, it's noise — not signal.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4400" y="3968496"/>
            <a:ext cx="5029200" cy="1874520"/>
          </a:xfrm>
          <a:prstGeom prst="roundRect">
            <a:avLst>
              <a:gd name="adj" fmla="val 3902"/>
            </a:avLst>
          </a:prstGeom>
          <a:solidFill>
            <a:srgbClr val="FBF1D5"/>
          </a:solidFill>
          <a:ln w="15875">
            <a:solidFill>
              <a:srgbClr val="EAAA0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188720" y="4279392"/>
            <a:ext cx="146304" cy="146304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44752" y="416966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validation / test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4681728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prompts on one split; judge on another the agent never saw. Otherwise you overfit the eval and fool yourself.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45352" y="3968496"/>
            <a:ext cx="5029200" cy="1874520"/>
          </a:xfrm>
          <a:prstGeom prst="roundRect">
            <a:avLst>
              <a:gd name="adj" fmla="val 3902"/>
            </a:avLst>
          </a:prstGeom>
          <a:solidFill>
            <a:srgbClr val="FBF1D5"/>
          </a:solidFill>
          <a:ln w="15875">
            <a:solidFill>
              <a:srgbClr val="EAAA00"/>
            </a:solidFill>
            <a:prstDash val="solid"/>
          </a:ln>
          <a:effectLst>
            <a:outerShdw blurRad="88900" dist="38100" dir="5400000" algn="bl" rotWithShape="0">
              <a:srgbClr val="000000">
                <a:alpha val="13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519672" y="4279392"/>
            <a:ext cx="146304" cy="146304"/>
          </a:xfrm>
          <a:prstGeom prst="rect">
            <a:avLst/>
          </a:prstGeom>
          <a:solidFill>
            <a:srgbClr val="EAA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775704" y="4169664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584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data — even your traces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19672" y="4681728"/>
            <a:ext cx="448056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3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interaction history is a dataset. Save it, then have the agent distill a reusable skill from how you actually work.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14400" y="6053328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0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thinking is the discipline agent systems lack</a:t>
            </a:r>
            <a:r>
              <a:rPr lang="en-US" sz="1600" i="1" dirty="0">
                <a:solidFill>
                  <a:srgbClr val="B584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and exactly what we bring.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51615" y="6437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A94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964</Words>
  <Application>Microsoft Macintosh PowerPoint</Application>
  <PresentationFormat>Widescreen</PresentationFormat>
  <Paragraphs>112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Leverage from the Outside — QRST 2026</dc:title>
  <dc:subject>PptxGenJS Presentation</dc:subject>
  <dc:creator>Shihao Yang</dc:creator>
  <cp:lastModifiedBy>Yang, Shihao</cp:lastModifiedBy>
  <cp:revision>79</cp:revision>
  <dcterms:created xsi:type="dcterms:W3CDTF">2026-06-29T15:48:18Z</dcterms:created>
  <dcterms:modified xsi:type="dcterms:W3CDTF">2026-07-31T11:48:11Z</dcterms:modified>
</cp:coreProperties>
</file>